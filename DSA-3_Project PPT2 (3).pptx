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5" r:id="rId6"/>
    <p:sldId id="259"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441789"/>
            <a:ext cx="9144000" cy="2157573"/>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LOGISTICS OPTIMISATION SYSTEM</a:t>
            </a:r>
          </a:p>
        </p:txBody>
      </p:sp>
      <p:sp>
        <p:nvSpPr>
          <p:cNvPr id="3" name="Subtitle 2"/>
          <p:cNvSpPr>
            <a:spLocks noGrp="1"/>
          </p:cNvSpPr>
          <p:nvPr>
            <p:ph type="subTitle" idx="1"/>
          </p:nvPr>
        </p:nvSpPr>
        <p:spPr>
          <a:xfrm>
            <a:off x="4270160" y="2717515"/>
            <a:ext cx="4551284" cy="2192023"/>
          </a:xfrm>
        </p:spPr>
        <p:txBody>
          <a:bodyPr/>
          <a:lstStyle/>
          <a:p>
            <a:r>
              <a:rPr lang="en-US" dirty="0">
                <a:solidFill>
                  <a:srgbClr val="0070C0"/>
                </a:solidFill>
              </a:rPr>
              <a:t>Team Members</a:t>
            </a:r>
          </a:p>
          <a:p>
            <a:pPr marL="171450" algn="ctr">
              <a:lnSpc>
                <a:spcPct val="107000"/>
              </a:lnSpc>
              <a:spcAft>
                <a:spcPts val="800"/>
              </a:spcAft>
            </a:pPr>
            <a:r>
              <a:rPr lang="en-US" sz="16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Meghana-2520030461</a:t>
            </a:r>
          </a:p>
          <a:p>
            <a:pPr marL="171450" algn="ctr">
              <a:lnSpc>
                <a:spcPct val="107000"/>
              </a:lnSpc>
              <a:spcAft>
                <a:spcPts val="800"/>
              </a:spcAft>
            </a:pPr>
            <a:r>
              <a:rPr lang="en-US" sz="16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Bhavya-2520030005</a:t>
            </a:r>
          </a:p>
          <a:p>
            <a:pPr marL="171450" algn="ctr">
              <a:lnSpc>
                <a:spcPct val="107000"/>
              </a:lnSpc>
              <a:spcAft>
                <a:spcPts val="800"/>
              </a:spcAft>
            </a:pPr>
            <a:r>
              <a:rPr lang="en-US" sz="16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Koushika-2520030459</a:t>
            </a:r>
            <a:endParaRPr lang="en-US" sz="16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 </a:t>
            </a:r>
            <a:r>
              <a:rPr lang="en-US" sz="1800" kern="0" dirty="0" err="1">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Dr.Yamini</a:t>
            </a: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Devi</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pPr marL="171450">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p>
          <a:p>
            <a:pPr algn="ctr">
              <a:lnSpc>
                <a:spcPct val="107000"/>
              </a:lnSpc>
              <a:spcAft>
                <a:spcPts val="800"/>
              </a:spcAft>
            </a:pP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TextBox 5">
            <a:extLst>
              <a:ext uri="{FF2B5EF4-FFF2-40B4-BE49-F238E27FC236}">
                <a16:creationId xmlns:a16="http://schemas.microsoft.com/office/drawing/2014/main" id="{81D12AB5-750D-0C63-51AE-E545B04B05A7}"/>
              </a:ext>
            </a:extLst>
          </p:cNvPr>
          <p:cNvSpPr txBox="1"/>
          <p:nvPr/>
        </p:nvSpPr>
        <p:spPr>
          <a:xfrm>
            <a:off x="785004" y="1582341"/>
            <a:ext cx="10972800" cy="5109091"/>
          </a:xfrm>
          <a:prstGeom prst="rect">
            <a:avLst/>
          </a:prstGeom>
          <a:noFill/>
        </p:spPr>
        <p:txBody>
          <a:bodyPr wrap="square">
            <a:spAutoFit/>
          </a:bodyPr>
          <a:lstStyle/>
          <a:p>
            <a:pPr algn="just"/>
            <a:r>
              <a:rPr lang="en-IN" sz="2800" dirty="0"/>
              <a:t>Transportation is a major component of supply-chain management, and inefficient route selection can lead to increased costs, underutilization of resources, and delays in delivering goods. When multiple warehouses, destinations, route capacities, and transportation costs are involved, manually determining the best shipment allocation becomes difficult. This project addresses this challenge by </a:t>
            </a:r>
            <a:r>
              <a:rPr lang="en-IN" sz="2800" dirty="0" err="1"/>
              <a:t>modeling</a:t>
            </a:r>
            <a:r>
              <a:rPr lang="en-IN" sz="2800" dirty="0"/>
              <a:t> the transportation system as a network-flow problem, where warehouses act as supply nodes, destinations as demand nodes, and transportation routes as capacity- and cost-constrained edges. The system aims to provide an efficient algorithmic approach for optimizing the movement of goods and reducing overall transportation expenses.</a:t>
            </a:r>
          </a:p>
          <a:p>
            <a:pPr>
              <a:buNone/>
            </a:pPr>
            <a:endParaRPr lang="en-IN"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428545E2-C35F-E5EC-A56B-D87E2855B9D1}"/>
              </a:ext>
            </a:extLst>
          </p:cNvPr>
          <p:cNvSpPr txBox="1"/>
          <p:nvPr/>
        </p:nvSpPr>
        <p:spPr>
          <a:xfrm>
            <a:off x="5495026" y="2113472"/>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A6DA20FB-4F99-6DD7-941B-DAD87C10F2A3}"/>
              </a:ext>
            </a:extLst>
          </p:cNvPr>
          <p:cNvSpPr txBox="1"/>
          <p:nvPr/>
        </p:nvSpPr>
        <p:spPr>
          <a:xfrm>
            <a:off x="431322" y="1492369"/>
            <a:ext cx="11153954" cy="4708981"/>
          </a:xfrm>
          <a:prstGeom prst="rect">
            <a:avLst/>
          </a:prstGeom>
          <a:noFill/>
        </p:spPr>
        <p:txBody>
          <a:bodyPr wrap="square">
            <a:spAutoFit/>
          </a:bodyPr>
          <a:lstStyle/>
          <a:p>
            <a:pPr algn="just"/>
            <a:r>
              <a:rPr lang="en-IN" sz="2800" dirty="0"/>
              <a:t>The Logistics Optimization System uses the Minimum-Cost Maximum-Flow (MCMF) algorithm to determine optimal shipment quantities and routes while satisfying supply, demand, and capacity constraints. The project applies advanced algorithm concepts including flow networks, maximum flow, residual graphs, augmenting paths, flow conservation, and the Successive Shortest Path (SSP) approach. The system generates route-wise shipment details, total transportation cost, and network visualizations, helping improve resource utilization and reduce unnecessary transportation expenses. It demonstrates the practical application of network-flow algorithms to real-world logistics and supply-chain optimization.</a:t>
            </a:r>
          </a:p>
          <a:p>
            <a:pPr algn="just">
              <a:buNone/>
            </a:pP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0E0FB5F7-657C-2A34-8F05-F020C6BD89B5}"/>
              </a:ext>
            </a:extLst>
          </p:cNvPr>
          <p:cNvSpPr txBox="1"/>
          <p:nvPr/>
        </p:nvSpPr>
        <p:spPr>
          <a:xfrm>
            <a:off x="1173192" y="1293962"/>
            <a:ext cx="10515600" cy="5170646"/>
          </a:xfrm>
          <a:prstGeom prst="rect">
            <a:avLst/>
          </a:prstGeom>
          <a:noFill/>
        </p:spPr>
        <p:txBody>
          <a:bodyPr wrap="square">
            <a:spAutoFit/>
          </a:bodyPr>
          <a:lstStyle/>
          <a:p>
            <a:pPr algn="just"/>
            <a:r>
              <a:rPr lang="en-IN" sz="2400" b="1" dirty="0"/>
              <a:t>Problem Statement</a:t>
            </a:r>
          </a:p>
          <a:p>
            <a:pPr algn="just"/>
            <a:r>
              <a:rPr lang="en-IN" sz="2400" dirty="0"/>
              <a:t>Managing the transportation of goods between multiple warehouses and destinations is challenging due to varying supply, demand, route capacities, and transportation costs. Inefficient route selection can increase expenses and waste resources. Hence, an optimized system is needed to determine the best shipment allocation at minimum cost while satisfying all constraints.</a:t>
            </a:r>
          </a:p>
          <a:p>
            <a:pPr algn="just"/>
            <a:r>
              <a:rPr lang="en-IN" sz="2400" b="1" dirty="0"/>
              <a:t>Objectives</a:t>
            </a:r>
          </a:p>
          <a:p>
            <a:pPr algn="just"/>
            <a:r>
              <a:rPr lang="en-IN" sz="2400" dirty="0"/>
              <a:t>- Model the logistics system as a flow network.</a:t>
            </a:r>
          </a:p>
          <a:p>
            <a:pPr algn="just"/>
            <a:r>
              <a:rPr lang="en-IN" sz="2400" dirty="0"/>
              <a:t>- Implement Minimum-Cost Maximum-Flow (MCMF).</a:t>
            </a:r>
          </a:p>
          <a:p>
            <a:pPr algn="just"/>
            <a:r>
              <a:rPr lang="en-IN" sz="2400" dirty="0"/>
              <a:t>- Find optimal shipment quantities and routes.</a:t>
            </a:r>
          </a:p>
          <a:p>
            <a:pPr algn="just"/>
            <a:r>
              <a:rPr lang="en-IN" sz="2400" dirty="0"/>
              <a:t>- Minimize the total transportation cost.</a:t>
            </a:r>
          </a:p>
          <a:p>
            <a:pPr algn="just"/>
            <a:r>
              <a:rPr lang="en-IN" sz="2400" dirty="0"/>
              <a:t>- Satisfy supply, demand, and capacity constraints.</a:t>
            </a:r>
          </a:p>
          <a:p>
            <a:pPr algn="just"/>
            <a:r>
              <a:rPr lang="en-IN" sz="2400" dirty="0"/>
              <a:t>- Provide route-wise results and network visualization.</a:t>
            </a:r>
          </a:p>
          <a:p>
            <a:pPr algn="just">
              <a:buNone/>
            </a:pPr>
            <a:endParaRPr lang="en-IN" dirty="0"/>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descr="The diagram illustrates a flow network process for logistics, starting with input data, constructing a flow network, initializing flow, finding minimum-cost paths, updating flow, and calculating total transportation costs.&#10;&#10;AI-generated content may be incorrect.">
            <a:extLst>
              <a:ext uri="{FF2B5EF4-FFF2-40B4-BE49-F238E27FC236}">
                <a16:creationId xmlns:a16="http://schemas.microsoft.com/office/drawing/2014/main" id="{636A8276-C16E-B57F-737C-FC1E3EACA717}"/>
              </a:ext>
            </a:extLst>
          </p:cNvPr>
          <p:cNvPicPr>
            <a:picLocks noChangeAspect="1"/>
          </p:cNvPicPr>
          <p:nvPr/>
        </p:nvPicPr>
        <p:blipFill>
          <a:blip r:embed="rId2"/>
          <a:stretch>
            <a:fillRect/>
          </a:stretch>
        </p:blipFill>
        <p:spPr>
          <a:xfrm>
            <a:off x="4242759" y="1332782"/>
            <a:ext cx="3482196" cy="52232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9D738561-52D7-3536-5230-DF48BA4C0449}"/>
              </a:ext>
            </a:extLst>
          </p:cNvPr>
          <p:cNvSpPr txBox="1"/>
          <p:nvPr/>
        </p:nvSpPr>
        <p:spPr>
          <a:xfrm>
            <a:off x="664235" y="1181820"/>
            <a:ext cx="11136702" cy="4431983"/>
          </a:xfrm>
          <a:prstGeom prst="rect">
            <a:avLst/>
          </a:prstGeom>
          <a:noFill/>
        </p:spPr>
        <p:txBody>
          <a:bodyPr wrap="square">
            <a:spAutoFit/>
          </a:bodyPr>
          <a:lstStyle/>
          <a:p>
            <a:pPr algn="just"/>
            <a:r>
              <a:rPr lang="en-IN" sz="2400" dirty="0"/>
              <a:t>Successfully models the logistics problem as a flow network connecting warehouses and destinations.</a:t>
            </a:r>
          </a:p>
          <a:p>
            <a:pPr algn="just"/>
            <a:r>
              <a:rPr lang="en-IN" sz="2400" dirty="0"/>
              <a:t>Determines the optimal shipment quantity for each route while satisfying supply, demand, and capacity constraints.</a:t>
            </a:r>
          </a:p>
          <a:p>
            <a:pPr algn="just"/>
            <a:r>
              <a:rPr lang="en-IN" sz="2400" dirty="0"/>
              <a:t>Uses Minimum-Cost Maximum-Flow (MCMF) with the Successive Shortest Path (SSP) approach to minimize total transportation cost.</a:t>
            </a:r>
          </a:p>
          <a:p>
            <a:pPr algn="just"/>
            <a:r>
              <a:rPr lang="en-IN" sz="2400" dirty="0"/>
              <a:t>Generates route-wise flow and cost details for better decision-making.</a:t>
            </a:r>
          </a:p>
          <a:p>
            <a:pPr algn="just"/>
            <a:r>
              <a:rPr lang="en-IN" sz="2400" dirty="0"/>
              <a:t>Provides a network visualization of warehouses, destinations, routes, and optimized flows.</a:t>
            </a:r>
          </a:p>
          <a:p>
            <a:pPr algn="just"/>
            <a:r>
              <a:rPr lang="en-IN" sz="2400" dirty="0"/>
              <a:t>Helps reduce transportation costs and improve resource utilization compared with non-optimized route allocation.</a:t>
            </a:r>
          </a:p>
          <a:p>
            <a:pPr algn="just">
              <a:buNone/>
            </a:pPr>
            <a:endParaRPr lang="en-IN"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008C544A-69F9-588E-B0AE-BB6566A54F4D}"/>
              </a:ext>
            </a:extLst>
          </p:cNvPr>
          <p:cNvSpPr txBox="1"/>
          <p:nvPr/>
        </p:nvSpPr>
        <p:spPr>
          <a:xfrm>
            <a:off x="715992" y="1443841"/>
            <a:ext cx="10860657" cy="3970318"/>
          </a:xfrm>
          <a:prstGeom prst="rect">
            <a:avLst/>
          </a:prstGeom>
          <a:noFill/>
        </p:spPr>
        <p:txBody>
          <a:bodyPr wrap="square">
            <a:spAutoFit/>
          </a:bodyPr>
          <a:lstStyle/>
          <a:p>
            <a:pPr>
              <a:buNone/>
            </a:pPr>
            <a:r>
              <a:rPr lang="en-IN" b="1" dirty="0"/>
              <a:t>Hardware:</a:t>
            </a:r>
            <a:br>
              <a:rPr lang="en-IN" dirty="0"/>
            </a:br>
            <a:br>
              <a:rPr lang="en-IN" dirty="0"/>
            </a:br>
            <a:r>
              <a:rPr lang="en-IN" dirty="0"/>
              <a:t>Intel Core i3+</a:t>
            </a:r>
            <a:br>
              <a:rPr lang="en-IN" dirty="0"/>
            </a:br>
            <a:r>
              <a:rPr lang="en-IN" dirty="0"/>
              <a:t>4 GB RAM</a:t>
            </a:r>
            <a:br>
              <a:rPr lang="en-IN" dirty="0"/>
            </a:br>
            <a:r>
              <a:rPr lang="en-IN" dirty="0"/>
              <a:t>500 MB storage</a:t>
            </a:r>
            <a:br>
              <a:rPr lang="en-IN" dirty="0"/>
            </a:br>
            <a:br>
              <a:rPr lang="en-IN" dirty="0"/>
            </a:br>
            <a:br>
              <a:rPr lang="en-IN" dirty="0"/>
            </a:br>
            <a:r>
              <a:rPr lang="en-IN" b="1" dirty="0"/>
              <a:t>Software:</a:t>
            </a:r>
            <a:br>
              <a:rPr lang="en-IN" dirty="0"/>
            </a:br>
            <a:br>
              <a:rPr lang="en-IN" dirty="0"/>
            </a:br>
            <a:r>
              <a:rPr lang="en-IN" dirty="0"/>
              <a:t>Windows/Linux/macOS</a:t>
            </a:r>
            <a:br>
              <a:rPr lang="en-IN" dirty="0"/>
            </a:br>
            <a:r>
              <a:rPr lang="en-IN" dirty="0"/>
              <a:t>Java + JDK 17+</a:t>
            </a:r>
            <a:br>
              <a:rPr lang="en-IN" dirty="0"/>
            </a:br>
            <a:r>
              <a:rPr lang="en-IN" dirty="0"/>
              <a:t>VS Code</a:t>
            </a:r>
            <a:br>
              <a:rPr lang="en-IN" dirty="0"/>
            </a:br>
            <a:r>
              <a:rPr lang="en-IN" dirty="0"/>
              <a:t>MCMF using SSP</a:t>
            </a:r>
            <a:br>
              <a:rPr lang="en-IN" dirty="0"/>
            </a:br>
            <a:r>
              <a:rPr lang="en-IN" dirty="0"/>
              <a:t>Git/GitHub (</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FB8378DC-723C-094F-B324-F3872734FC01}"/>
              </a:ext>
            </a:extLst>
          </p:cNvPr>
          <p:cNvSpPr txBox="1"/>
          <p:nvPr/>
        </p:nvSpPr>
        <p:spPr>
          <a:xfrm>
            <a:off x="603848" y="1859340"/>
            <a:ext cx="11153955" cy="4401205"/>
          </a:xfrm>
          <a:prstGeom prst="rect">
            <a:avLst/>
          </a:prstGeom>
          <a:noFill/>
        </p:spPr>
        <p:txBody>
          <a:bodyPr wrap="square">
            <a:spAutoFit/>
          </a:bodyPr>
          <a:lstStyle/>
          <a:p>
            <a:pPr algn="just">
              <a:buNone/>
            </a:pPr>
            <a:r>
              <a:rPr lang="en-IN" sz="2800" dirty="0"/>
              <a:t>The Logistics Optimization System successfully demonstrates the practical application of Minimum-Cost Maximum-Flow (MCMF) using the Successive Shortest Path (SSP) algorithm. By </a:t>
            </a:r>
            <a:r>
              <a:rPr lang="en-IN" sz="2800" dirty="0" err="1"/>
              <a:t>modeling</a:t>
            </a:r>
            <a:r>
              <a:rPr lang="en-IN" sz="2800" dirty="0"/>
              <a:t> warehouses, destinations, capacities, and transportation costs as a flow network, the system determines an efficient shipment allocation while minimizing the overall transportation cost.</a:t>
            </a:r>
          </a:p>
          <a:p>
            <a:pPr algn="just">
              <a:buNone/>
            </a:pPr>
            <a:r>
              <a:rPr lang="en-IN" sz="2800" dirty="0"/>
              <a:t>The project shows how advanced network-flow algorithms can solve real-world logistics problems, improve resource utilization, and support better transportation decisions through optimized routes, cost reports, and network visualization.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B5F030CF-EBE1-DE5B-40A2-CE9A32C54F15}"/>
              </a:ext>
            </a:extLst>
          </p:cNvPr>
          <p:cNvSpPr txBox="1"/>
          <p:nvPr/>
        </p:nvSpPr>
        <p:spPr>
          <a:xfrm>
            <a:off x="638355" y="1130061"/>
            <a:ext cx="11067690" cy="3539430"/>
          </a:xfrm>
          <a:prstGeom prst="rect">
            <a:avLst/>
          </a:prstGeom>
          <a:noFill/>
        </p:spPr>
        <p:txBody>
          <a:bodyPr wrap="square">
            <a:spAutoFit/>
          </a:bodyPr>
          <a:lstStyle/>
          <a:p>
            <a:pPr algn="just">
              <a:buNone/>
            </a:pPr>
            <a:r>
              <a:rPr lang="en-IN" sz="3200" b="1" dirty="0"/>
              <a:t>Future Scope</a:t>
            </a:r>
          </a:p>
          <a:p>
            <a:pPr algn="just">
              <a:buNone/>
            </a:pPr>
            <a:r>
              <a:rPr lang="en-IN" sz="3200" dirty="0"/>
              <a:t>- Support real-time transportation data and route updates.</a:t>
            </a:r>
          </a:p>
          <a:p>
            <a:pPr algn="just">
              <a:buNone/>
            </a:pPr>
            <a:r>
              <a:rPr lang="en-IN" sz="3200" dirty="0"/>
              <a:t>- Add multiple optimization objectives such as time and fuel cost.</a:t>
            </a:r>
          </a:p>
          <a:p>
            <a:pPr algn="just">
              <a:buNone/>
            </a:pPr>
            <a:r>
              <a:rPr lang="en-IN" sz="3200" dirty="0"/>
              <a:t>- Integrate GPS and live traffic information.</a:t>
            </a:r>
          </a:p>
          <a:p>
            <a:pPr algn="just">
              <a:buNone/>
            </a:pPr>
            <a:r>
              <a:rPr lang="en-IN" sz="3200" dirty="0"/>
              <a:t>- Handle larger and more complex logistics networks.</a:t>
            </a:r>
          </a:p>
          <a:p>
            <a:pPr algn="just">
              <a:buNone/>
            </a:pPr>
            <a:r>
              <a:rPr lang="en-IN" sz="3200" dirty="0"/>
              <a:t>- Add demand forecasting for better shipment planning.</a:t>
            </a:r>
          </a:p>
          <a:p>
            <a:pPr algn="just">
              <a:buNone/>
            </a:pPr>
            <a:r>
              <a:rPr lang="en-IN" sz="3200" dirty="0"/>
              <a:t>- Develop  recommendations for dynamic route optimization.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685</Words>
  <Application>Microsoft Office PowerPoint</Application>
  <PresentationFormat>Widescreen</PresentationFormat>
  <Paragraphs>52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LOGISTICS OPTIMISATION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patel meghana</cp:lastModifiedBy>
  <cp:revision>24</cp:revision>
  <dcterms:created xsi:type="dcterms:W3CDTF">2024-08-29T05:25:00Z</dcterms:created>
  <dcterms:modified xsi:type="dcterms:W3CDTF">2026-09-09T06:46:05Z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